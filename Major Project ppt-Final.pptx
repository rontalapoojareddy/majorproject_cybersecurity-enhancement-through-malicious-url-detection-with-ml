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2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3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7" r:id="rId2"/>
    <p:sldId id="288" r:id="rId3"/>
    <p:sldId id="383" r:id="rId4"/>
    <p:sldId id="389" r:id="rId5"/>
    <p:sldId id="289" r:id="rId6"/>
    <p:sldId id="280" r:id="rId7"/>
    <p:sldId id="382" r:id="rId8"/>
    <p:sldId id="359" r:id="rId9"/>
    <p:sldId id="392" r:id="rId10"/>
    <p:sldId id="386" r:id="rId11"/>
    <p:sldId id="393" r:id="rId12"/>
    <p:sldId id="277" r:id="rId13"/>
    <p:sldId id="394" r:id="rId14"/>
    <p:sldId id="395" r:id="rId15"/>
    <p:sldId id="385" r:id="rId16"/>
    <p:sldId id="390" r:id="rId17"/>
    <p:sldId id="380" r:id="rId18"/>
    <p:sldId id="381" r:id="rId19"/>
    <p:sldId id="391" r:id="rId20"/>
    <p:sldId id="384" r:id="rId21"/>
    <p:sldId id="387" r:id="rId22"/>
    <p:sldId id="379" r:id="rId23"/>
  </p:sldIdLst>
  <p:sldSz cx="9144000" cy="5143500" type="screen16x9"/>
  <p:notesSz cx="6858000" cy="9144000"/>
  <p:embeddedFontLst>
    <p:embeddedFont>
      <p:font typeface="Georgia" panose="02040502050405020303" pitchFamily="18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8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353535"/>
    <a:srgbClr val="000099"/>
    <a:srgbClr val="00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E2688F3E-E29E-440B-AE30-781EA312BEEB}" styleName="Table_0">
    <a:wholeTbl>
      <a:tcTxStyle>
        <a:font>
          <a:latin typeface="Georgia"/>
          <a:ea typeface="Georgia"/>
          <a:cs typeface="Georgia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D"/>
          </a:solidFill>
        </a:fill>
      </a:tcStyle>
    </a:wholeTbl>
    <a:band1H>
      <a:tcStyle>
        <a:tcBdr/>
        <a:fill>
          <a:solidFill>
            <a:srgbClr val="CFCFD9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CFD9"/>
          </a:solidFill>
        </a:fill>
      </a:tcStyle>
    </a:band1V>
    <a:band2V>
      <a:tcStyle>
        <a:tcBdr/>
      </a:tcStyle>
    </a:band2V>
    <a:lastCol>
      <a:tcTxStyle b="on">
        <a:font>
          <a:latin typeface="Georgia"/>
          <a:ea typeface="Georgia"/>
          <a:cs typeface="Georgia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Georgia"/>
          <a:ea typeface="Georgia"/>
          <a:cs typeface="Georgia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Georgia"/>
          <a:ea typeface="Georgia"/>
          <a:cs typeface="Georgia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Georgia"/>
          <a:ea typeface="Georgia"/>
          <a:cs typeface="Georgia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06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566" y="72"/>
      </p:cViewPr>
      <p:guideLst>
        <p:guide orient="horz" pos="1684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6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narayana Reddy Rontala" userId="bc2a82422429b39a" providerId="LiveId" clId="{540EAF53-C255-4FF1-9466-85F918F4F4CA}"/>
    <pc:docChg chg="undo custSel modSld">
      <pc:chgData name="Adinarayana Reddy Rontala" userId="bc2a82422429b39a" providerId="LiveId" clId="{540EAF53-C255-4FF1-9466-85F918F4F4CA}" dt="2025-03-19T06:52:34.287" v="17" actId="20577"/>
      <pc:docMkLst>
        <pc:docMk/>
      </pc:docMkLst>
      <pc:sldChg chg="modSp mod">
        <pc:chgData name="Adinarayana Reddy Rontala" userId="bc2a82422429b39a" providerId="LiveId" clId="{540EAF53-C255-4FF1-9466-85F918F4F4CA}" dt="2025-03-18T18:07:59.217" v="3" actId="1076"/>
        <pc:sldMkLst>
          <pc:docMk/>
          <pc:sldMk cId="0" sldId="257"/>
        </pc:sldMkLst>
        <pc:spChg chg="mod">
          <ac:chgData name="Adinarayana Reddy Rontala" userId="bc2a82422429b39a" providerId="LiveId" clId="{540EAF53-C255-4FF1-9466-85F918F4F4CA}" dt="2025-03-18T18:07:02.108" v="1" actId="20577"/>
          <ac:spMkLst>
            <pc:docMk/>
            <pc:sldMk cId="0" sldId="257"/>
            <ac:spMk id="5" creationId="{00000000-0000-0000-0000-000000000000}"/>
          </ac:spMkLst>
        </pc:spChg>
        <pc:graphicFrameChg chg="mod">
          <ac:chgData name="Adinarayana Reddy Rontala" userId="bc2a82422429b39a" providerId="LiveId" clId="{540EAF53-C255-4FF1-9466-85F918F4F4CA}" dt="2025-03-18T18:07:59.217" v="3" actId="1076"/>
          <ac:graphicFrameMkLst>
            <pc:docMk/>
            <pc:sldMk cId="0" sldId="257"/>
            <ac:graphicFrameMk id="7" creationId="{00000000-0000-0000-0000-000000000000}"/>
          </ac:graphicFrameMkLst>
        </pc:graphicFrameChg>
      </pc:sldChg>
      <pc:sldChg chg="modSp mod">
        <pc:chgData name="Adinarayana Reddy Rontala" userId="bc2a82422429b39a" providerId="LiveId" clId="{540EAF53-C255-4FF1-9466-85F918F4F4CA}" dt="2025-03-19T05:55:49.574" v="7" actId="20577"/>
        <pc:sldMkLst>
          <pc:docMk/>
          <pc:sldMk cId="0" sldId="383"/>
        </pc:sldMkLst>
        <pc:spChg chg="mod">
          <ac:chgData name="Adinarayana Reddy Rontala" userId="bc2a82422429b39a" providerId="LiveId" clId="{540EAF53-C255-4FF1-9466-85F918F4F4CA}" dt="2025-03-19T05:55:49.574" v="7" actId="20577"/>
          <ac:spMkLst>
            <pc:docMk/>
            <pc:sldMk cId="0" sldId="383"/>
            <ac:spMk id="9" creationId="{00000000-0000-0000-0000-000000000000}"/>
          </ac:spMkLst>
        </pc:spChg>
      </pc:sldChg>
      <pc:sldChg chg="modSp mod">
        <pc:chgData name="Adinarayana Reddy Rontala" userId="bc2a82422429b39a" providerId="LiveId" clId="{540EAF53-C255-4FF1-9466-85F918F4F4CA}" dt="2025-03-19T05:57:35.034" v="10" actId="20577"/>
        <pc:sldMkLst>
          <pc:docMk/>
          <pc:sldMk cId="0" sldId="386"/>
        </pc:sldMkLst>
        <pc:spChg chg="mod">
          <ac:chgData name="Adinarayana Reddy Rontala" userId="bc2a82422429b39a" providerId="LiveId" clId="{540EAF53-C255-4FF1-9466-85F918F4F4CA}" dt="2025-03-19T05:57:35.034" v="10" actId="20577"/>
          <ac:spMkLst>
            <pc:docMk/>
            <pc:sldMk cId="0" sldId="386"/>
            <ac:spMk id="3" creationId="{00000000-0000-0000-0000-000000000000}"/>
          </ac:spMkLst>
        </pc:spChg>
      </pc:sldChg>
      <pc:sldChg chg="modSp mod">
        <pc:chgData name="Adinarayana Reddy Rontala" userId="bc2a82422429b39a" providerId="LiveId" clId="{540EAF53-C255-4FF1-9466-85F918F4F4CA}" dt="2025-03-19T06:52:34.287" v="17" actId="20577"/>
        <pc:sldMkLst>
          <pc:docMk/>
          <pc:sldMk cId="0" sldId="392"/>
        </pc:sldMkLst>
        <pc:spChg chg="mod">
          <ac:chgData name="Adinarayana Reddy Rontala" userId="bc2a82422429b39a" providerId="LiveId" clId="{540EAF53-C255-4FF1-9466-85F918F4F4CA}" dt="2025-03-19T06:52:34.287" v="17" actId="20577"/>
          <ac:spMkLst>
            <pc:docMk/>
            <pc:sldMk cId="0" sldId="392"/>
            <ac:spMk id="3" creationId="{00000000-0000-0000-0000-000000000000}"/>
          </ac:spMkLst>
        </pc:spChg>
      </pc:sldChg>
      <pc:sldChg chg="modSp mod">
        <pc:chgData name="Adinarayana Reddy Rontala" userId="bc2a82422429b39a" providerId="LiveId" clId="{540EAF53-C255-4FF1-9466-85F918F4F4CA}" dt="2025-03-19T05:58:20.551" v="16" actId="20577"/>
        <pc:sldMkLst>
          <pc:docMk/>
          <pc:sldMk cId="0" sldId="393"/>
        </pc:sldMkLst>
        <pc:spChg chg="mod">
          <ac:chgData name="Adinarayana Reddy Rontala" userId="bc2a82422429b39a" providerId="LiveId" clId="{540EAF53-C255-4FF1-9466-85F918F4F4CA}" dt="2025-03-19T05:58:20.551" v="16" actId="20577"/>
          <ac:spMkLst>
            <pc:docMk/>
            <pc:sldMk cId="0" sldId="393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9085dc823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9085dc823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Batch 113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9085dc823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9085dc823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c6f980f9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c6f980f9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c6f980f9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c6f980f9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c6f980f9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c6f980f9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c6f980f9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c6f980f9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c6f980f9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c6f980f9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c6f980f9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c6f980f9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c6f980f91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c6f980f91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c6f980f9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c6f980f9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c6f980f9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c6f980f9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c6f980f91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c6f980f91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c6f980f91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c6f980f91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c6f980f9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c6f980f9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c6f980f91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c6f980f91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567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68313" y="897731"/>
            <a:ext cx="8207375" cy="81200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69900" y="1816894"/>
            <a:ext cx="8212138" cy="131445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3919"/>
            <a:ext cx="2133600" cy="35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3919"/>
            <a:ext cx="2895600" cy="35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3919"/>
            <a:ext cx="2133600" cy="35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0EB2F9E-C9E0-4EA3-A9E2-0DF5F691060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</p:spPr>
        <p:txBody>
          <a:bodyPr/>
          <a:lstStyle>
            <a:lvl1pPr marL="0" indent="0">
              <a:buNone/>
              <a:defRPr sz="1800"/>
            </a:lvl1pPr>
            <a:lvl2pPr marL="342900" indent="0">
              <a:buNone/>
              <a:defRPr sz="1500"/>
            </a:lvl2pPr>
            <a:lvl3pPr marL="685800" indent="0">
              <a:buNone/>
              <a:defRPr sz="135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881063"/>
            <a:ext cx="4038600" cy="3714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81063"/>
            <a:ext cx="4038600" cy="3714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260872"/>
            <a:ext cx="3868737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1878806"/>
            <a:ext cx="3868737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788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788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740569"/>
            <a:ext cx="4629150" cy="3655219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2875"/>
            <a:ext cx="2057400" cy="44529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2875"/>
            <a:ext cx="6019800" cy="44529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0"/>
            <a:ext cx="91567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42875"/>
            <a:ext cx="8229600" cy="43696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881063"/>
            <a:ext cx="8229600" cy="37147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05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3919"/>
            <a:ext cx="2895600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05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3919"/>
            <a:ext cx="2133600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050"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257175" indent="-257175" algn="l" rtl="0" fontAlgn="base">
        <a:spcBef>
          <a:spcPct val="15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3995" algn="l" rtl="0" fontAlgn="base">
        <a:spcBef>
          <a:spcPct val="15000"/>
        </a:spcBef>
        <a:spcAft>
          <a:spcPct val="0"/>
        </a:spcAft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fontAlgn="base">
        <a:spcBef>
          <a:spcPct val="15000"/>
        </a:spcBef>
        <a:spcAft>
          <a:spcPct val="0"/>
        </a:spcAft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fontAlgn="base">
        <a:spcBef>
          <a:spcPct val="15000"/>
        </a:spcBef>
        <a:spcAft>
          <a:spcPct val="0"/>
        </a:spcAft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fontAlgn="base">
        <a:spcBef>
          <a:spcPct val="15000"/>
        </a:spcBef>
        <a:spcAft>
          <a:spcPct val="0"/>
        </a:spcAft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4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 noGrp="1"/>
          </p:cNvSpPr>
          <p:nvPr>
            <p:ph type="body" idx="4294967295"/>
          </p:nvPr>
        </p:nvSpPr>
        <p:spPr>
          <a:xfrm>
            <a:off x="118599" y="1530003"/>
            <a:ext cx="3549650" cy="27813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IN" sz="2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2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Under the </a:t>
            </a:r>
            <a:r>
              <a:rPr lang="en-US" sz="2000" b="1" kern="1200" dirty="0">
                <a:solidFill>
                  <a:schemeClr val="accent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guidance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of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kern="1200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Mr. Ch. Sandeep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I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Associate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Prof</a:t>
            </a:r>
            <a:r>
              <a:rPr kumimoji="0" lang="en-US" altLang="en-I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essor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IN" sz="2000" b="1" kern="1200" dirty="0">
              <a:solidFill>
                <a:schemeClr val="tx2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Presented for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sz="2000" b="1" kern="1200" dirty="0">
                <a:solidFill>
                  <a:schemeClr val="accent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Major Project Final Review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Date: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19-03-2025</a:t>
            </a:r>
            <a:endParaRPr kumimoji="0" lang="en-IN" sz="2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2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4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0813245"/>
              </p:ext>
            </p:extLst>
          </p:nvPr>
        </p:nvGraphicFramePr>
        <p:xfrm>
          <a:off x="4190722" y="2077256"/>
          <a:ext cx="4211955" cy="242697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604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7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4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en-IN" sz="20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 panose="020B0604020202020204"/>
                        </a:rPr>
                        <a:t>Candidate </a:t>
                      </a:r>
                      <a:r>
                        <a:rPr kumimoji="0" lang="en-US" altLang="en-IN" sz="20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 panose="020B0604020202020204"/>
                        </a:rPr>
                        <a:t>No. &amp; N</a:t>
                      </a:r>
                      <a:r>
                        <a:rPr kumimoji="0" lang="en-IN" sz="20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 panose="020B0604020202020204"/>
                        </a:rPr>
                        <a:t>ame</a:t>
                      </a:r>
                      <a:endParaRPr kumimoji="0" lang="en-IN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kumimoji="0" lang="en-IN" sz="2000" b="1" u="none" strike="noStrike" kern="1200" cap="none" spc="0" normalizeH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 panose="020B0604020202020204"/>
                        </a:rPr>
                        <a:t>HTNO</a:t>
                      </a:r>
                      <a:r>
                        <a:rPr kumimoji="0" lang="en-US" altLang="en-IN" sz="2000" b="1" u="none" strike="noStrike" kern="1200" cap="none" spc="0" normalizeH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 panose="020B0604020202020204"/>
                        </a:rPr>
                        <a:t>.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IN" sz="2000" b="1" u="none" strike="noStrike" kern="1200" cap="none" spc="0" normalizeH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 panose="020B0604020202020204"/>
                        </a:rPr>
                        <a:t>Name</a:t>
                      </a:r>
                      <a:r>
                        <a:rPr kumimoji="0" lang="en-US" altLang="en-IN" sz="2000" b="1" u="none" strike="noStrike" kern="1200" cap="none" spc="0" normalizeH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 panose="020B0604020202020204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449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2103A51067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2103A51550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2103A51553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2103A51218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Rontala Pooja Reddy</a:t>
                      </a:r>
                    </a:p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Bathini Shiva Sathvika</a:t>
                      </a:r>
                    </a:p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Errabelly Shruthi</a:t>
                      </a:r>
                    </a:p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Challa Akshaya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Picture 2" descr="A close up of a logo&#10;&#10;Description automatically generat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8695" y="-635"/>
            <a:ext cx="1804670" cy="32258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931584" y="584820"/>
            <a:ext cx="6518275" cy="6680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IN" sz="2400" b="1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" panose="020B0604020202020204"/>
              </a:rPr>
              <a:t>Cybersecurity Enhancement through Malicious URL Detection with ML</a:t>
            </a:r>
          </a:p>
        </p:txBody>
      </p:sp>
      <p:sp>
        <p:nvSpPr>
          <p:cNvPr id="4" name="Text Box 3"/>
          <p:cNvSpPr txBox="1"/>
          <p:nvPr/>
        </p:nvSpPr>
        <p:spPr>
          <a:xfrm flipH="1">
            <a:off x="7574915" y="321945"/>
            <a:ext cx="1062355" cy="3270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1"/>
                </a:solidFill>
                <a:sym typeface="+mn-ea"/>
              </a:rPr>
              <a:t>Batch 113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992094" y="1016000"/>
            <a:ext cx="0" cy="412750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2" name="Picture 1" descr="A close up of a logo&#10;&#10;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3045" y="1"/>
            <a:ext cx="2133600" cy="44362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60F593BF-1D92-EE10-F07B-8C4E46301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828" y="291611"/>
            <a:ext cx="8229600" cy="436960"/>
          </a:xfrm>
        </p:spPr>
        <p:txBody>
          <a:bodyPr/>
          <a:lstStyle/>
          <a:p>
            <a:pPr algn="ctr"/>
            <a:r>
              <a:rPr lang="en-IN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IN" sz="28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2F56FE-F448-431A-34C7-563A74818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800" y="1050166"/>
            <a:ext cx="7603200" cy="3714750"/>
          </a:xfrm>
        </p:spPr>
        <p:txBody>
          <a:bodyPr numCol="2"/>
          <a:lstStyle/>
          <a:p>
            <a:pPr marL="457200" indent="-457200"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identification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Workflow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of the proposed system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Case Diagram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298128"/>
            <a:ext cx="8520600" cy="6542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1700" y="1215842"/>
            <a:ext cx="7839833" cy="36295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threats are evolving, with malicious Uniform Resource (UR) attacks becoming more advanced and dangerous.Traditional security methods are not enough, as existing techniques struggle to detect new and evolving threats.</a:t>
            </a:r>
          </a:p>
          <a:p>
            <a:pPr marL="342900" indent="-342900"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Feature engineering techniques like lexical analysis, host-based features, and behavioral metrics improve detection accuracy.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Various models, including supervised and unsupervised learning techniques, help analyze web traffic and detect threats.</a:t>
            </a:r>
          </a:p>
          <a:p>
            <a:pPr marL="342900" indent="-342900"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models, particularly deep learning and ensemble approaches, outperform traditional security methods.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close up of a logo&#10;&#10;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415" y="181611"/>
            <a:ext cx="2133600" cy="443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11700" y="1261870"/>
            <a:ext cx="7872760" cy="32432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452755" lvl="0" indent="-342900" algn="just" rtl="0"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SzPts val="2800"/>
              <a:buFont typeface="Wingdings" panose="05000000000000000000" pitchFamily="2" charset="2"/>
              <a:buChar char="Ø"/>
            </a:pPr>
            <a:r>
              <a:rPr lang="en-US" altLang="en-US" sz="2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Malicious URLs are modified or hacked links used for cyber attacks.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2755" lvl="0" indent="-342900" algn="just" rtl="0"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SzPts val="2800"/>
              <a:buFont typeface="Wingdings" panose="05000000000000000000" pitchFamily="2" charset="2"/>
              <a:buChar char="Ø"/>
            </a:pPr>
            <a:r>
              <a:rPr lang="en-US" altLang="en-US" sz="2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They can steal data, spread viruses, or trick users into revealing sensitive information.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2755" lvl="0" indent="-342900" algn="just" rtl="0"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SzPts val="2800"/>
              <a:buFont typeface="Wingdings" panose="05000000000000000000" pitchFamily="2" charset="2"/>
              <a:buChar char="Ø"/>
            </a:pPr>
            <a:r>
              <a:rPr lang="en-US" altLang="en-US" sz="2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Machine learning helps detect these URLs by analyzing patterns like strange characters or fake domains.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2755" lvl="0" indent="-342900" algn="just" rtl="0"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SzPts val="2800"/>
              <a:buFont typeface="Wingdings" panose="05000000000000000000" pitchFamily="2" charset="2"/>
              <a:buChar char="Ø"/>
            </a:pPr>
            <a:r>
              <a:rPr lang="en-US" altLang="en-US" sz="2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strong detection system blocks harmful links before they can cause damage.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2755" lvl="0" indent="-342900" algn="just" rtl="0"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SzPts val="2800"/>
              <a:buFont typeface="Wingdings" panose="05000000000000000000" pitchFamily="2" charset="2"/>
              <a:buChar char="Ø"/>
            </a:pPr>
            <a:r>
              <a:rPr lang="en-US" altLang="en-US" sz="2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This protects personal data and prevents cyber threats, making online browsing safer for everyone.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3312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3" name="Picture 2" descr="A close up of a logo&#10;&#10;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6849" y="173991"/>
            <a:ext cx="2133600" cy="443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57929" y="1061231"/>
            <a:ext cx="7748286" cy="321475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452755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28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The objective is to implement machine learning Techniques for malicious URL detection</a:t>
            </a:r>
          </a:p>
          <a:p>
            <a:pPr marL="452755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28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To develop a Machine Learning model that can automatically identify and classify URLs as either safe or malicious based on their characteristics.</a:t>
            </a:r>
            <a:endParaRPr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2755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28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To enhance cyber security measures by proactively identifying potential threats, thus reducing the risk of falling victim to online threats.</a:t>
            </a:r>
          </a:p>
          <a:p>
            <a:pPr marL="452755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2800"/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To reduce dependency on traditional blacklist-based detection by implementing intelligent and adaptive models.</a:t>
            </a:r>
          </a:p>
          <a:p>
            <a:pPr marL="452755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2800"/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To minimize false positives and false negatives in malicious URL identification</a:t>
            </a:r>
          </a:p>
          <a:p>
            <a:pPr marL="365760" lvl="0" indent="-255905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2" name="Google Shape;93;p18"/>
          <p:cNvSpPr txBox="1">
            <a:spLocks noGrp="1"/>
          </p:cNvSpPr>
          <p:nvPr>
            <p:ph type="title"/>
          </p:nvPr>
        </p:nvSpPr>
        <p:spPr>
          <a:xfrm>
            <a:off x="250855" y="3312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2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close up of a logo&#10;&#10;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415" y="173991"/>
            <a:ext cx="2133600" cy="443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170985" y="3312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464" y="926841"/>
            <a:ext cx="8354008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</a:pPr>
            <a:endParaRPr lang="en-IN" sz="20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close up of a logo&#10;&#10;Description automatically generat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415" y="173991"/>
            <a:ext cx="2133600" cy="443620"/>
          </a:xfrm>
          <a:prstGeom prst="rect">
            <a:avLst/>
          </a:prstGeom>
        </p:spPr>
      </p:pic>
      <p:graphicFrame>
        <p:nvGraphicFramePr>
          <p:cNvPr id="123" name="Google Shape;123;p3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5685350"/>
              </p:ext>
            </p:extLst>
          </p:nvPr>
        </p:nvGraphicFramePr>
        <p:xfrm>
          <a:off x="471487" y="1067678"/>
          <a:ext cx="8415049" cy="3976390"/>
        </p:xfrm>
        <a:graphic>
          <a:graphicData uri="http://schemas.openxmlformats.org/drawingml/2006/table">
            <a:tbl>
              <a:tblPr firstRow="1" bandRow="1">
                <a:tableStyleId>{E2688F3E-E29E-440B-AE30-781EA312BEEB}</a:tableStyleId>
              </a:tblPr>
              <a:tblGrid>
                <a:gridCol w="19202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3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39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3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38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58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strike="noStrike" cap="none" dirty="0">
                          <a:solidFill>
                            <a:srgbClr val="FFFF00"/>
                          </a:solidFill>
                          <a:sym typeface="Times New Roman" panose="02020603050405020304"/>
                        </a:rPr>
                        <a:t>NAME​</a:t>
                      </a:r>
                      <a:endParaRPr lang="en-US" sz="1200" b="0" strike="noStrike" cap="none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dirty="0">
                          <a:solidFill>
                            <a:srgbClr val="FFFF00"/>
                          </a:solidFill>
                          <a:sym typeface="Times New Roman" panose="02020603050405020304"/>
                        </a:rPr>
                        <a:t>AUTHORS​</a:t>
                      </a:r>
                      <a:endParaRPr lang="en-US" sz="1200" b="0" i="0" u="none" strike="noStrike" cap="none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>
                          <a:solidFill>
                            <a:srgbClr val="FFFF00"/>
                          </a:solidFill>
                          <a:sym typeface="Times New Roman" panose="02020603050405020304"/>
                        </a:rPr>
                        <a:t>YEAR​</a:t>
                      </a:r>
                      <a:endParaRPr lang="en-US" sz="1200" b="0" i="0" u="none" strike="noStrike" cap="none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dirty="0">
                          <a:solidFill>
                            <a:srgbClr val="FFFF00"/>
                          </a:solidFill>
                          <a:sym typeface="Times New Roman" panose="02020603050405020304"/>
                        </a:rPr>
                        <a:t>TECHNIQUES USED</a:t>
                      </a:r>
                      <a:endParaRPr lang="en-US" sz="1200" b="0" i="0" u="none" strike="noStrike" cap="none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>
                          <a:solidFill>
                            <a:srgbClr val="FFFF00"/>
                          </a:solidFill>
                          <a:sym typeface="Times New Roman" panose="02020603050405020304"/>
                        </a:rPr>
                        <a:t>LIMITATIONS​</a:t>
                      </a:r>
                      <a:endParaRPr lang="en-US" sz="1200" b="0" i="0" u="none" strike="noStrike" cap="none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 panose="02020603050405020304"/>
                        <a:buNone/>
                      </a:pPr>
                      <a:r>
                        <a:rPr lang="en-US" altLang="en-IN" sz="1200" b="0" i="0" u="none" strike="noStrike" kern="1200" cap="none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Georgia" panose="02040502050405020303"/>
                          <a:cs typeface="Times New Roman" panose="02020603050405020304" pitchFamily="18" charset="0"/>
                          <a:sym typeface="Times New Roman" panose="02020603050405020304"/>
                        </a:rPr>
                        <a:t>Malicious URL Detection Using Machine Learning ‘MASK’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lang="en-IN" sz="1200" b="0" kern="1200" dirty="0"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IN" sz="1200" b="0" kern="120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M.Murarka</a:t>
                      </a:r>
                    </a:p>
                    <a:p>
                      <a:r>
                        <a:rPr lang="en-US" altLang="en-IN" sz="1200" b="0" i="0" kern="120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Georgia" panose="02040502050405020303"/>
                          <a:cs typeface="Times New Roman" panose="02020603050405020304" pitchFamily="18" charset="0"/>
                        </a:rPr>
                        <a:t>K.Deshmukh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2024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200" b="0" i="0" u="none" strike="noStrike" kern="1200" cap="none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Georgia" panose="02040502050405020303"/>
                          <a:cs typeface="Times New Roman" panose="02020603050405020304" pitchFamily="18" charset="0"/>
                          <a:sym typeface="Times New Roman" panose="02020603050405020304"/>
                        </a:rPr>
                        <a:t> Support Vector Machines (SVM) and Random Forests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200" b="0" i="0" u="none" strike="noStrike" cap="none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high false-positive rates and difficulties in detecting newly emerging threats.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 panose="02020603050405020304"/>
                        <a:buNone/>
                      </a:pPr>
                      <a:r>
                        <a:rPr lang="en-US" altLang="en-IN" sz="1200" b="0" i="0" kern="120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Georgia" panose="02040502050405020303"/>
                          <a:cs typeface="Times New Roman" panose="02020603050405020304" pitchFamily="18" charset="0"/>
                          <a:sym typeface="Times New Roman" panose="02020603050405020304"/>
                        </a:rPr>
                        <a:t>Machine Learning for Cybersecurity:Detecting and Preventing Cyber Attacks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IN" sz="1200" b="0" i="0" kern="1200" dirty="0" err="1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Georgia" panose="02040502050405020303"/>
                          <a:cs typeface="Times New Roman" panose="02020603050405020304" pitchFamily="18" charset="0"/>
                        </a:rPr>
                        <a:t>A.Marengo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IN" sz="1200" b="0" i="0" kern="1200" dirty="0" err="1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Georgia" panose="02040502050405020303"/>
                          <a:cs typeface="Times New Roman" panose="02020603050405020304" pitchFamily="18" charset="0"/>
                        </a:rPr>
                        <a:t>A.Pagano</a:t>
                      </a:r>
                      <a:endParaRPr lang="en-IN" sz="1200" b="0" i="0" kern="1200" dirty="0" err="1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Georgia" panose="02040502050405020303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200" b="0" i="0" kern="1200" dirty="0" err="1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ea typeface="Georgia" panose="02040502050405020303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 panose="02020603050405020304"/>
                        </a:rPr>
                        <a:t>2024</a:t>
                      </a:r>
                      <a:endParaRPr lang="en-US" sz="1200" b="0" i="0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20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Georgia" panose="02040502050405020303"/>
                          <a:cs typeface="Times New Roman" panose="02020603050405020304" pitchFamily="18" charset="0"/>
                          <a:sym typeface="Times New Roman" panose="02020603050405020304"/>
                        </a:rPr>
                        <a:t>Support Vector Machines(SVM),Decision Tree and </a:t>
                      </a:r>
                      <a:r>
                        <a:rPr lang="en-IN" sz="120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Random Forest (RF)</a:t>
                      </a:r>
                      <a:endParaRPr lang="en-IN" sz="1200" b="0" i="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Georgia" panose="02040502050405020303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200" b="0" i="0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Machine learning models require large datasets for accurate training.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71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 panose="02020603050405020304"/>
                        <a:buNone/>
                      </a:pPr>
                      <a:r>
                        <a:rPr lang="en-IN" sz="120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Detecting Malicious URLs Using Machine Learning</a:t>
                      </a:r>
                      <a:endParaRPr lang="en-IN" sz="1200" b="0" i="0" u="none" strike="noStrike" kern="1200" cap="none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Georgia" panose="02040502050405020303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 panose="02020603050405020304"/>
                        <a:buNone/>
                      </a:pPr>
                      <a:endParaRPr lang="en-IN" sz="1200" b="0" i="0" kern="1200" dirty="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ea typeface="Georgia" panose="02040502050405020303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 panose="02020603050405020304"/>
                        <a:buNone/>
                      </a:pPr>
                      <a:r>
                        <a:rPr lang="en-IN" sz="120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Mr.K.V.V.Subbarao</a:t>
                      </a:r>
                      <a:endParaRPr lang="en-IN" sz="1200" b="0" i="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Georgia" panose="02040502050405020303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 panose="02020603050405020304"/>
                        <a:buNone/>
                      </a:pPr>
                      <a:endParaRPr lang="en-IN" sz="1200" b="0" i="0" kern="1200" dirty="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ea typeface="Georgia" panose="02040502050405020303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  <a:sym typeface="Times New Roman" panose="02020603050405020304"/>
                        </a:rPr>
                        <a:t>2023</a:t>
                      </a:r>
                      <a:endParaRPr lang="en-US" sz="1200" b="0" i="0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 panose="02020603050405020304"/>
                        </a:rPr>
                        <a:t>Support </a:t>
                      </a:r>
                      <a:r>
                        <a:rPr lang="en-IN" sz="120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Vector Machine (SVM) and Random Forest (RF)</a:t>
                      </a:r>
                      <a:endParaRPr lang="en-IN" sz="1200" b="0" i="0" u="none" strike="noStrike" kern="1200" cap="none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Georgia" panose="02040502050405020303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200" b="0" i="0" kern="12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Georgia" panose="02040502050405020303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 panose="02020603050405020304"/>
                        </a:rPr>
                        <a:t>Reduced accuracy with complex phishing URLs</a:t>
                      </a:r>
                      <a:endParaRPr lang="en-US" sz="1200" b="0" i="0" u="none" strike="noStrike" cap="none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3312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1700" y="950595"/>
            <a:ext cx="7523890" cy="361397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endParaRPr lang="en-US" sz="200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Detecting Phishing URLs Using Machine Learning &amp; Lexical Feature-Based Analysis</a:t>
            </a:r>
          </a:p>
          <a:p>
            <a:pPr marL="0" indent="0" algn="just">
              <a:buClr>
                <a:schemeClr val="tx1"/>
              </a:buClr>
              <a:buFont typeface="Wingdings" panose="05000000000000000000" pitchFamily="2" charset="2"/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indent="-342900"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Suspicious URL filtering based on Logistic Regression with Multi-view analysis.</a:t>
            </a:r>
          </a:p>
          <a:p>
            <a:pPr marL="0" indent="0" algn="just">
              <a:buClr>
                <a:schemeClr val="tx1"/>
              </a:buClr>
              <a:buFont typeface="Wingdings" panose="05000000000000000000" pitchFamily="2" charset="2"/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indent="-342900"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Malicious URL detection system using combined SVM and Logistic Regressions model.</a:t>
            </a:r>
          </a:p>
          <a:p>
            <a:pPr marL="0" indent="0" algn="just">
              <a:buClr>
                <a:schemeClr val="tx1"/>
              </a:buClr>
              <a:buFont typeface="Wingdings" panose="05000000000000000000" pitchFamily="2" charset="2"/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indent="-342900"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Deep learning models such as CNNs RNNs and Transformers are used for feature extraction and classification.</a:t>
            </a:r>
          </a:p>
          <a:p>
            <a:pPr marL="342900" indent="-342900"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indent="-342900"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IN" sz="2000" dirty="0">
              <a:solidFill>
                <a:schemeClr val="tx1"/>
              </a:solidFill>
            </a:endParaRPr>
          </a:p>
          <a:p>
            <a:pPr marL="342900" indent="-342900"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close up of a logo&#10;&#10;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415" y="173991"/>
            <a:ext cx="2133600" cy="443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3312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1061231"/>
            <a:ext cx="8096494" cy="343212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Cybersecurity Enhancement through Malicious URL Detection with ML, several key challenges arise: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Increasing sophistication of cyber threats, including malicious Uniform Resource(UR) attacks.</a:t>
            </a:r>
          </a:p>
          <a:p>
            <a:pPr marL="342900" indent="-342900" algn="just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security mechanisms struggle to detect evolving cyber threats effectively.</a:t>
            </a:r>
          </a:p>
          <a:p>
            <a:pPr marL="342900" indent="-342900" algn="just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false positive and false negative rates in conventional malicious UR     </a:t>
            </a:r>
          </a:p>
          <a:p>
            <a:pPr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detection methods.</a:t>
            </a:r>
          </a:p>
          <a:p>
            <a:pPr marL="342900" indent="-342900" algn="just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identifying phishing URLs and other cyber threats in real time.</a:t>
            </a:r>
          </a:p>
        </p:txBody>
      </p:sp>
      <p:pic>
        <p:nvPicPr>
          <p:cNvPr id="4" name="Picture 3" descr="A close up of a logo&#10;&#10;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415" y="173991"/>
            <a:ext cx="2133600" cy="443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331261"/>
            <a:ext cx="8520600" cy="572700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311700" y="1061231"/>
            <a:ext cx="7564259" cy="3352398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indent="-342900"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Collect a diverse dataset containing both malicious and benign URLs.</a:t>
            </a:r>
          </a:p>
          <a:p>
            <a:pPr marL="342900" indent="-342900"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Extract relevant features.</a:t>
            </a:r>
          </a:p>
          <a:p>
            <a:pPr marL="342900" indent="-342900"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Choose appropriate machine learning algorithms for classification such as Naive Bayes classifier, decision tree, Random Forest,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KNN,etc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</a:t>
            </a:r>
          </a:p>
          <a:p>
            <a:pPr marL="342900" indent="-342900"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Build and evaluate the predictive mode</a:t>
            </a:r>
          </a:p>
          <a:p>
            <a:pPr marL="342900" indent="-342900"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indent="-342900"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Real-time monitoring system integrated with cloud-based security infrastructure for continuous threat detection.</a:t>
            </a:r>
          </a:p>
        </p:txBody>
      </p:sp>
      <p:pic>
        <p:nvPicPr>
          <p:cNvPr id="4" name="Picture 3" descr="A close up of a logo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415" y="173991"/>
            <a:ext cx="2133600" cy="443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 txBox="1">
            <a:spLocks noGrp="1"/>
          </p:cNvSpPr>
          <p:nvPr>
            <p:ph type="title"/>
          </p:nvPr>
        </p:nvSpPr>
        <p:spPr>
          <a:xfrm>
            <a:off x="311700" y="331261"/>
            <a:ext cx="8520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Workflow</a:t>
            </a:r>
            <a:br>
              <a:rPr lang="en-US" sz="3200" dirty="0"/>
            </a:br>
            <a:endParaRPr sz="32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1700" y="1148441"/>
            <a:ext cx="7712507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>
              <a:lnSpc>
                <a:spcPct val="150000"/>
              </a:lnSpc>
              <a:buClr>
                <a:srgbClr val="FFFF00"/>
              </a:buClr>
              <a:buFont typeface="+mj-lt"/>
              <a:buNone/>
            </a:pPr>
            <a:r>
              <a:rPr lang="en-US" altLang="en-US" sz="2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User Input –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receives URLs from users, security logs, or web traffic for analysis.</a:t>
            </a:r>
          </a:p>
          <a:p>
            <a:pPr marL="0" indent="0" algn="just">
              <a:lnSpc>
                <a:spcPct val="150000"/>
              </a:lnSpc>
              <a:buClr>
                <a:srgbClr val="FFFF00"/>
              </a:buClr>
              <a:buFont typeface="+mj-lt"/>
              <a:buNone/>
            </a:pPr>
            <a:r>
              <a:rPr lang="en-US" altLang="en-US" sz="2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Feature Extraction –</a:t>
            </a:r>
            <a:r>
              <a:rPr lang="en-US" altLang="en-US" sz="2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extracts lexical, host-based, and behavioral features from the given URLs to facilitate detection.</a:t>
            </a:r>
            <a:r>
              <a:rPr lang="en-US" sz="2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lnSpc>
                <a:spcPct val="150000"/>
              </a:lnSpc>
              <a:buClr>
                <a:srgbClr val="FFFF00"/>
              </a:buClr>
              <a:buFont typeface="+mj-lt"/>
              <a:buNone/>
            </a:pPr>
            <a:r>
              <a:rPr lang="en-US" altLang="en-US" sz="2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URL Pre-processing –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input URLs undergo preprocessing using Natural Language Processing (NLP) and parsing techniques to remove unnecessary characters, normalize text, and extract key components.</a:t>
            </a:r>
          </a:p>
          <a:p>
            <a:pPr marL="342900" indent="-342900" algn="just">
              <a:lnSpc>
                <a:spcPct val="150000"/>
              </a:lnSpc>
              <a:buClr>
                <a:srgbClr val="FFFF00"/>
              </a:buClr>
              <a:buFont typeface="+mj-lt"/>
              <a:buAutoNum type="arabicPeriod"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close up of a logo&#10;&#10;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415" y="173991"/>
            <a:ext cx="2133600" cy="443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02433"/>
            <a:ext cx="8229600" cy="436960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405" y="1067835"/>
            <a:ext cx="7694738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>
              <a:lnSpc>
                <a:spcPct val="150000"/>
              </a:lnSpc>
              <a:buClr>
                <a:srgbClr val="FFFF00"/>
              </a:buClr>
              <a:buFont typeface="+mj-lt"/>
              <a:buNone/>
            </a:pPr>
            <a:r>
              <a:rPr lang="en-US" altLang="en-US" sz="2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Real-time Threat Response</a:t>
            </a:r>
            <a:r>
              <a:rPr lang="en-US" alt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a URL is detected as malicious, the system triggers security alerts, blocks access, or updates cybersecurity databases.</a:t>
            </a:r>
            <a:endParaRPr lang="en-US" sz="2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Clr>
                <a:srgbClr val="FFFF00"/>
              </a:buClr>
              <a:buFont typeface="+mj-lt"/>
              <a:buNone/>
            </a:pPr>
            <a:r>
              <a:rPr lang="en-US" sz="2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Anomaly Detection-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Unsupervised learning methods identify unknown or evolving threats based on abnormal URL patterns.</a:t>
            </a:r>
          </a:p>
          <a:p>
            <a:pPr marL="0" indent="0" algn="just">
              <a:lnSpc>
                <a:spcPct val="150000"/>
              </a:lnSpc>
              <a:buClr>
                <a:srgbClr val="FFFF00"/>
              </a:buClr>
              <a:buFont typeface="+mj-lt"/>
              <a:buNone/>
            </a:pPr>
            <a:r>
              <a:rPr lang="en-US" sz="2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Continuous Learning &amp;Updating-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model is continuously updated with new threat intelligence data to improve detection accuracy and adapt to evolving cyber threats.</a:t>
            </a:r>
          </a:p>
          <a:p>
            <a:endParaRPr lang="en-IN" dirty="0"/>
          </a:p>
        </p:txBody>
      </p:sp>
      <p:pic>
        <p:nvPicPr>
          <p:cNvPr id="4" name="Picture 3" descr="A close up of a logo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415" y="173991"/>
            <a:ext cx="2133600" cy="443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674327" y="296487"/>
            <a:ext cx="7483560" cy="6422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of Proposed System</a:t>
            </a:r>
          </a:p>
        </p:txBody>
      </p:sp>
      <p:sp>
        <p:nvSpPr>
          <p:cNvPr id="29" name="Google Shape;153;p8"/>
          <p:cNvSpPr/>
          <p:nvPr/>
        </p:nvSpPr>
        <p:spPr>
          <a:xfrm>
            <a:off x="113277" y="2017076"/>
            <a:ext cx="1030605" cy="1165225"/>
          </a:xfrm>
          <a:prstGeom prst="can">
            <a:avLst>
              <a:gd name="adj" fmla="val 26285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 panose="02020603050405020304"/>
              <a:buNone/>
            </a:pPr>
            <a:endParaRPr lang="en-US" sz="1200" b="1" i="0" u="none" strike="noStrike" cap="none" dirty="0">
              <a:solidFill>
                <a:schemeClr val="accen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 panose="02020603050405020304"/>
              <a:buNone/>
            </a:pPr>
            <a:r>
              <a:rPr lang="en-US" sz="1200" b="1" dirty="0">
                <a:solidFill>
                  <a:schemeClr val="accen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Dataset</a:t>
            </a:r>
            <a:endParaRPr sz="1200" b="1" i="0" u="none" strike="noStrike" cap="none" dirty="0">
              <a:solidFill>
                <a:schemeClr val="accen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</a:pPr>
            <a:r>
              <a:rPr lang="en-US" sz="1200" b="1" dirty="0">
                <a:solidFill>
                  <a:schemeClr val="accen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Collection</a:t>
            </a:r>
            <a:endParaRPr sz="1200" b="1" i="0" u="none" strike="noStrike" cap="none" dirty="0">
              <a:solidFill>
                <a:schemeClr val="accen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 panose="02020603050405020304"/>
              <a:buNone/>
            </a:pPr>
            <a:endParaRPr lang="en-US" sz="1200" b="1" i="0" u="none" strike="noStrike" cap="none" dirty="0">
              <a:solidFill>
                <a:schemeClr val="accen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0" name="Google Shape;154;p8"/>
          <p:cNvSpPr/>
          <p:nvPr/>
        </p:nvSpPr>
        <p:spPr>
          <a:xfrm>
            <a:off x="1568132" y="2032952"/>
            <a:ext cx="1693545" cy="105791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</a:pPr>
            <a:r>
              <a:rPr lang="en-US" sz="1600" b="1" dirty="0">
                <a:solidFill>
                  <a:schemeClr val="accen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Pre-processing</a:t>
            </a:r>
            <a:endParaRPr lang="en-US" sz="1600" b="1" i="0" u="none" strike="noStrike" cap="none" dirty="0">
              <a:solidFill>
                <a:schemeClr val="accen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</a:pPr>
            <a:r>
              <a:rPr lang="en-US" sz="1600" b="1" dirty="0">
                <a:solidFill>
                  <a:schemeClr val="accen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and Feature Engineering</a:t>
            </a:r>
            <a:endParaRPr lang="en-US" sz="1600" b="1" i="0" u="none" strike="noStrike" cap="none" dirty="0">
              <a:solidFill>
                <a:schemeClr val="accen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1" name="Google Shape;155;p8"/>
          <p:cNvSpPr/>
          <p:nvPr/>
        </p:nvSpPr>
        <p:spPr>
          <a:xfrm>
            <a:off x="3609022" y="2052637"/>
            <a:ext cx="1614170" cy="10382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</a:pPr>
            <a:r>
              <a:rPr lang="en-US" sz="1600" b="1" dirty="0">
                <a:solidFill>
                  <a:schemeClr val="accen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Exploratory Data Analysis (EDA)</a:t>
            </a:r>
            <a:endParaRPr sz="1600" b="1" dirty="0">
              <a:solidFill>
                <a:schemeClr val="accen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eorgia" panose="02040502050405020303"/>
              <a:buNone/>
            </a:pPr>
            <a:endParaRPr sz="1600" b="1" i="0" u="none" strike="noStrike" cap="none" dirty="0">
              <a:solidFill>
                <a:schemeClr val="accen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2" name="Google Shape;156;p8"/>
          <p:cNvSpPr/>
          <p:nvPr/>
        </p:nvSpPr>
        <p:spPr>
          <a:xfrm>
            <a:off x="7529512" y="2052637"/>
            <a:ext cx="1350010" cy="99377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</a:pPr>
            <a:r>
              <a:rPr lang="en-US" sz="1600" b="1" dirty="0">
                <a:solidFill>
                  <a:schemeClr val="accen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Model E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valuation</a:t>
            </a:r>
            <a:endParaRPr lang="en-US" b="1" i="0" u="none" strike="noStrike" cap="none" dirty="0">
              <a:solidFill>
                <a:schemeClr val="accen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and</a:t>
            </a:r>
            <a:endParaRPr lang="en-US" b="1" i="0" u="none" strike="noStrike" cap="none" dirty="0">
              <a:solidFill>
                <a:schemeClr val="accen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comparison</a:t>
            </a:r>
            <a:endParaRPr lang="en-US" b="1" i="0" u="none" strike="noStrike" cap="none" dirty="0">
              <a:solidFill>
                <a:schemeClr val="accen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3" name="Google Shape;157;p8"/>
          <p:cNvSpPr/>
          <p:nvPr/>
        </p:nvSpPr>
        <p:spPr>
          <a:xfrm>
            <a:off x="5683567" y="2071052"/>
            <a:ext cx="1461135" cy="105791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Model Selection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and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Training</a:t>
            </a:r>
            <a:endParaRPr lang="en-US" sz="1600" b="1" i="0" u="none" strike="noStrike" cap="none" dirty="0">
              <a:solidFill>
                <a:schemeClr val="accen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4" name="Google Shape;160;p8"/>
          <p:cNvSpPr/>
          <p:nvPr/>
        </p:nvSpPr>
        <p:spPr>
          <a:xfrm>
            <a:off x="1102677" y="2514917"/>
            <a:ext cx="509270" cy="16954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5" name="Google Shape;161;p8"/>
          <p:cNvSpPr/>
          <p:nvPr/>
        </p:nvSpPr>
        <p:spPr>
          <a:xfrm>
            <a:off x="3161982" y="2514917"/>
            <a:ext cx="500380" cy="169545"/>
          </a:xfrm>
          <a:prstGeom prst="rightArrow">
            <a:avLst>
              <a:gd name="adj1" fmla="val 49812"/>
              <a:gd name="adj2" fmla="val 50000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6" name="Google Shape;162;p8"/>
          <p:cNvSpPr/>
          <p:nvPr/>
        </p:nvSpPr>
        <p:spPr>
          <a:xfrm>
            <a:off x="5153342" y="2514917"/>
            <a:ext cx="523240" cy="16954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7" name="Google Shape;163;p8"/>
          <p:cNvSpPr/>
          <p:nvPr/>
        </p:nvSpPr>
        <p:spPr>
          <a:xfrm>
            <a:off x="7041197" y="2514917"/>
            <a:ext cx="472440" cy="16954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" name="Picture 1" descr="A close up of a logo&#10;&#10;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6849" y="173991"/>
            <a:ext cx="2133600" cy="443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6D05F-AB40-A73F-F2E0-90E7D3783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Case Diagram</a:t>
            </a:r>
            <a:r>
              <a:rPr lang="en-IN" dirty="0"/>
              <a:t>			</a:t>
            </a:r>
            <a:endParaRPr lang="en-IN" sz="20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EB0E126E-5142-A155-B4DF-913A046C64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1974" y="997743"/>
            <a:ext cx="3724276" cy="3724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6B56570C-CDED-6CD8-2B1E-A876F40431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19649" y="954881"/>
            <a:ext cx="3817145" cy="3817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372DDC-4B0E-F796-F7F0-F9DE8A1FC2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29" r="1352"/>
          <a:stretch/>
        </p:blipFill>
        <p:spPr>
          <a:xfrm>
            <a:off x="1987201" y="614701"/>
            <a:ext cx="4269600" cy="4386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20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164D6-4A93-385D-50B0-BA9666F82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67FD57-7283-762C-3FE4-3BAF1D0018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79" r="9046"/>
          <a:stretch/>
        </p:blipFill>
        <p:spPr>
          <a:xfrm>
            <a:off x="1058400" y="729731"/>
            <a:ext cx="6156000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082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-145499" y="3312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025" y="1316420"/>
            <a:ext cx="7783552" cy="2847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>
              <a:lnSpc>
                <a:spcPct val="150000"/>
              </a:lnSpc>
              <a:buClr>
                <a:srgbClr val="FFFF00"/>
              </a:buClr>
              <a:buFont typeface="+mj-lt"/>
              <a:buNone/>
            </a:pPr>
            <a:r>
              <a:rPr lang="en-US" sz="200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 Flask: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 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Python web framework for the backend (light)</a:t>
            </a:r>
          </a:p>
          <a:p>
            <a:pPr marL="0" indent="0" algn="just">
              <a:lnSpc>
                <a:spcPct val="150000"/>
              </a:lnSpc>
              <a:buClr>
                <a:srgbClr val="FFFF00"/>
              </a:buClr>
              <a:buFont typeface="+mj-lt"/>
              <a:buNone/>
            </a:pPr>
            <a:r>
              <a:rPr lang="en-US" sz="200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 HTML/CSS/JavaScript: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frontend interface</a:t>
            </a:r>
          </a:p>
          <a:p>
            <a:pPr marL="0" indent="0" algn="just">
              <a:lnSpc>
                <a:spcPct val="150000"/>
              </a:lnSpc>
              <a:buClr>
                <a:srgbClr val="FFFF00"/>
              </a:buClr>
              <a:buFont typeface="+mj-lt"/>
              <a:buNone/>
            </a:pPr>
            <a:r>
              <a:rPr lang="en-US" sz="200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 Natural Language Processing: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process user inputs</a:t>
            </a:r>
          </a:p>
          <a:p>
            <a:pPr marL="0" indent="0" algn="just">
              <a:lnSpc>
                <a:spcPct val="150000"/>
              </a:lnSpc>
              <a:buClr>
                <a:srgbClr val="FFFF00"/>
              </a:buClr>
              <a:buFont typeface="+mj-lt"/>
              <a:buNone/>
            </a:pPr>
            <a:r>
              <a:rPr lang="en-US" sz="200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 Algorithm:</a:t>
            </a:r>
            <a:r>
              <a:rPr lang="en-US" sz="2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Random Forest Algorithm and KNN Algorithm are used to detect Malicious URL.</a:t>
            </a:r>
          </a:p>
          <a:p>
            <a:pPr algn="just">
              <a:lnSpc>
                <a:spcPct val="150000"/>
              </a:lnSpc>
              <a:buClr>
                <a:srgbClr val="FFFF00"/>
              </a:buClr>
            </a:pPr>
            <a:endParaRPr lang="en-IN" sz="2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close up of a logo&#10;&#10;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415" y="173991"/>
            <a:ext cx="2133600" cy="443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331261"/>
            <a:ext cx="8520600" cy="572700"/>
          </a:xfrm>
        </p:spPr>
        <p:txBody>
          <a:bodyPr/>
          <a:lstStyle/>
          <a:p>
            <a:pPr algn="ctr"/>
            <a:br>
              <a:rPr lang="en-US" b="1" dirty="0"/>
            </a:b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Result</a:t>
            </a:r>
            <a:br>
              <a:rPr lang="en-US" b="1" dirty="0">
                <a:sym typeface="+mn-ea"/>
              </a:rPr>
            </a:br>
            <a:endParaRPr lang="en-US" b="1" dirty="0"/>
          </a:p>
        </p:txBody>
      </p:sp>
      <p:sp>
        <p:nvSpPr>
          <p:cNvPr id="3" name="Text Box 2"/>
          <p:cNvSpPr txBox="1"/>
          <p:nvPr/>
        </p:nvSpPr>
        <p:spPr>
          <a:xfrm>
            <a:off x="200478" y="1021913"/>
            <a:ext cx="7887873" cy="3710274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109855" lvl="0" indent="0" algn="just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1.  The accuracy obtained by using various algorithms are analyzed and tabulated in the table below</a:t>
            </a:r>
          </a:p>
          <a:p>
            <a:pPr marL="365760" lvl="0" indent="-255905" algn="just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endParaRPr lang="en-US" sz="20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09855" lvl="0" indent="0" algn="just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09855" lvl="0" indent="0" algn="just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09855" lvl="0" indent="0" algn="just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09855" lvl="0" indent="0" algn="just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09855" lvl="0" indent="0" algn="just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09855" lvl="0" indent="0" algn="just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09855" lvl="0" indent="0" algn="just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09855" lvl="0" indent="0" algn="just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2.   So based on the above performance, Random Forest was selected as  main model for detecting malicious URLs</a:t>
            </a:r>
          </a:p>
          <a:p>
            <a:pPr marL="109855" lvl="0" indent="0" algn="just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lang="en-US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aphicFrame>
        <p:nvGraphicFramePr>
          <p:cNvPr id="256" name="Google Shape;256;p21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34774290"/>
              </p:ext>
            </p:extLst>
          </p:nvPr>
        </p:nvGraphicFramePr>
        <p:xfrm>
          <a:off x="638184" y="1757448"/>
          <a:ext cx="7012460" cy="2078574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37351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72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37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FFFF00"/>
                          </a:solidFill>
                          <a:sym typeface="Times New Roman" panose="02020603050405020304"/>
                        </a:rPr>
                        <a:t>Algorithm Used</a:t>
                      </a:r>
                      <a:endParaRPr lang="en-US" sz="1400" dirty="0">
                        <a:solidFill>
                          <a:srgbClr val="FFFF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FFFF00"/>
                          </a:solidFill>
                          <a:sym typeface="Times New Roman" panose="02020603050405020304"/>
                        </a:rPr>
                        <a:t>Accuracy obtained</a:t>
                      </a:r>
                      <a:endParaRPr lang="en-US" sz="1400">
                        <a:solidFill>
                          <a:srgbClr val="FFFF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37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sym typeface="Times New Roman" panose="02020603050405020304"/>
                        </a:rPr>
                        <a:t>Naïve Bayes Classifier</a:t>
                      </a:r>
                      <a:endParaRPr sz="14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ym typeface="Times New Roman" panose="02020603050405020304"/>
                        </a:rPr>
                        <a:t>82.6%</a:t>
                      </a:r>
                      <a:endParaRPr lang="en-US" sz="14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37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ym typeface="Times New Roman" panose="02020603050405020304"/>
                        </a:rPr>
                        <a:t>Decision Tree </a:t>
                      </a:r>
                      <a:endParaRPr lang="en-US" sz="14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sym typeface="Times New Roman" panose="02020603050405020304"/>
                        </a:rPr>
                        <a:t>95.4%</a:t>
                      </a:r>
                      <a:endParaRPr sz="14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37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ym typeface="Times New Roman" panose="02020603050405020304"/>
                        </a:rPr>
                        <a:t>Random Forest Classifier </a:t>
                      </a:r>
                      <a:endParaRPr lang="en-US" sz="14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ym typeface="Times New Roman" panose="02020603050405020304"/>
                        </a:rPr>
                        <a:t>96%</a:t>
                      </a:r>
                      <a:endParaRPr lang="en-US" sz="14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507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sym typeface="Times New Roman" panose="02020603050405020304"/>
                        </a:rPr>
                        <a:t>K Nearest Neighbor Algorithm</a:t>
                      </a:r>
                      <a:endParaRPr sz="14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sym typeface="Times New Roman" panose="02020603050405020304"/>
                        </a:rPr>
                        <a:t>95.5%</a:t>
                      </a:r>
                      <a:endParaRPr sz="14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" name="Picture 3" descr="A close up of a logo&#10;&#10;Description automatically generat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415" y="173991"/>
            <a:ext cx="2133600" cy="443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 txBox="1">
            <a:spLocks noGrp="1"/>
          </p:cNvSpPr>
          <p:nvPr>
            <p:ph type="title"/>
          </p:nvPr>
        </p:nvSpPr>
        <p:spPr>
          <a:xfrm>
            <a:off x="311700" y="10945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  <p:pic>
        <p:nvPicPr>
          <p:cNvPr id="2" name="Picture 1" descr="A close up of a logo&#10;&#10;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415" y="173991"/>
            <a:ext cx="2133600" cy="4436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1B5F175-4F04-0FBA-B644-7501B47CD0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00" y="682151"/>
            <a:ext cx="8333678" cy="44353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 txBox="1">
            <a:spLocks noGrp="1"/>
          </p:cNvSpPr>
          <p:nvPr>
            <p:ph type="title"/>
          </p:nvPr>
        </p:nvSpPr>
        <p:spPr>
          <a:xfrm>
            <a:off x="311700" y="10945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  <p:pic>
        <p:nvPicPr>
          <p:cNvPr id="2" name="Picture 1" descr="A close up of a logo&#10;&#10;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415" y="173991"/>
            <a:ext cx="2133600" cy="4436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506B56C-2BDA-945C-27EC-9B87B69D90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82" y="682151"/>
            <a:ext cx="8212835" cy="43710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85" y="180731"/>
            <a:ext cx="8520430" cy="873760"/>
          </a:xfrm>
        </p:spPr>
        <p:txBody>
          <a:bodyPr/>
          <a:lstStyle/>
          <a:p>
            <a:pPr algn="ctr">
              <a:lnSpc>
                <a:spcPct val="40000"/>
              </a:lnSpc>
            </a:pPr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  <p:pic>
        <p:nvPicPr>
          <p:cNvPr id="4" name="Picture 3" descr="A close up of a logo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415" y="173991"/>
            <a:ext cx="2133600" cy="4436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A86930-52C3-74D6-0F1E-BE8C84BB3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524" y="748020"/>
            <a:ext cx="8036952" cy="42774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51251" y="1081922"/>
            <a:ext cx="7725588" cy="3730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The dependence of various features of various URL were analyzed and            various features were used to determine the type of a URL.</a:t>
            </a:r>
            <a:endParaRPr sz="20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marL="285750" indent="-285750"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Different machine learning algorithms were applied in order to come up with a model that classifies the URL as Benign, Malware, Phishing, and Defacement URL.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Based on the accuracy score observations, Random Forest algorithms made better predictions with an accuracy of 96%.</a:t>
            </a:r>
            <a:endParaRPr sz="20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marL="0" indent="0"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2" name="Google Shape;93;p18"/>
          <p:cNvSpPr txBox="1">
            <a:spLocks noGrp="1"/>
          </p:cNvSpPr>
          <p:nvPr>
            <p:ph type="title"/>
          </p:nvPr>
        </p:nvSpPr>
        <p:spPr>
          <a:xfrm>
            <a:off x="186690" y="3312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US" sz="3200" dirty="0"/>
            </a:br>
            <a:endParaRPr sz="32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close up of a logo&#10;&#10;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415" y="173991"/>
            <a:ext cx="2133600" cy="443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 txBox="1">
            <a:spLocks noGrp="1"/>
          </p:cNvSpPr>
          <p:nvPr>
            <p:ph type="title"/>
          </p:nvPr>
        </p:nvSpPr>
        <p:spPr>
          <a:xfrm>
            <a:off x="311700" y="27400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141" y="961593"/>
            <a:ext cx="7647961" cy="4499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AI-powered cybersecurity systems will enhance threat intelligence and automate responses by combining machine learning with AI-driven security frameworks.</a:t>
            </a:r>
          </a:p>
          <a:p>
            <a:pPr marL="457200" lvl="0" indent="-457200"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deep learning models such as transformers and reinforcement learning will be implemented to improve accuracy and adaptability.</a:t>
            </a:r>
          </a:p>
          <a:p>
            <a:pPr marL="457200" lvl="0" indent="-457200"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Detection models will be integrated directly into web browsers, antivirus software, and firewalls to enhance user protection.</a:t>
            </a:r>
          </a:p>
          <a:p>
            <a:pPr marL="457200" lvl="0" indent="-457200"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detection and prevention systems will be developed to instantly block malicious URLs before they cause harm.</a:t>
            </a:r>
          </a:p>
          <a:p>
            <a:pPr marL="457200" lvl="0" indent="-457200"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threat intelligence sharing will be implemented by collaborating with global cybersecurity networks to improve collective defense mechanisms.</a:t>
            </a:r>
          </a:p>
          <a:p>
            <a:pPr algn="just">
              <a:lnSpc>
                <a:spcPct val="150000"/>
              </a:lnSpc>
              <a:buClr>
                <a:schemeClr val="tx1"/>
              </a:buClr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close up of a logo&#10;&#10;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415" y="173991"/>
            <a:ext cx="2133600" cy="443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logo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415" y="173991"/>
            <a:ext cx="2133600" cy="4436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8742" y="1863864"/>
            <a:ext cx="71665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9600" i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1*178"/>
  <p:tag name="TABLE_ENDDRAG_RECT" val="341*174*331*17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62*301"/>
  <p:tag name="TABLE_ENDDRAG_RECT" val="28*73*662*30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00*166"/>
  <p:tag name="TABLE_ENDDRAG_RECT" val="58*133*600*166"/>
</p:tagLst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511</TotalTime>
  <Words>1122</Words>
  <Application>Microsoft Office PowerPoint</Application>
  <PresentationFormat>On-screen Show (16:9)</PresentationFormat>
  <Paragraphs>171</Paragraphs>
  <Slides>22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Wingdings</vt:lpstr>
      <vt:lpstr>Times New Roman</vt:lpstr>
      <vt:lpstr>Arial</vt:lpstr>
      <vt:lpstr>Georgia</vt:lpstr>
      <vt:lpstr>Courier New</vt:lpstr>
      <vt:lpstr>Blue Waves</vt:lpstr>
      <vt:lpstr>PowerPoint Presentation</vt:lpstr>
      <vt:lpstr>Agenda</vt:lpstr>
      <vt:lpstr>Abstract</vt:lpstr>
      <vt:lpstr>Introduction</vt:lpstr>
      <vt:lpstr>Objectives </vt:lpstr>
      <vt:lpstr>Literature Survey</vt:lpstr>
      <vt:lpstr>Existing System</vt:lpstr>
      <vt:lpstr>Problem Identification</vt:lpstr>
      <vt:lpstr>Proposed Methodology</vt:lpstr>
      <vt:lpstr>System Workflow </vt:lpstr>
      <vt:lpstr>System Workflow</vt:lpstr>
      <vt:lpstr>Architecture of Proposed System</vt:lpstr>
      <vt:lpstr>User Case Diagram   </vt:lpstr>
      <vt:lpstr>Sequence Diagram</vt:lpstr>
      <vt:lpstr>Implementation</vt:lpstr>
      <vt:lpstr> Result </vt:lpstr>
      <vt:lpstr>Result</vt:lpstr>
      <vt:lpstr>Result</vt:lpstr>
      <vt:lpstr>Result</vt:lpstr>
      <vt:lpstr>Conclusion </vt:lpstr>
      <vt:lpstr>Future Scope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welcome</dc:creator>
  <cp:lastModifiedBy>Adinarayana Reddy Rontala</cp:lastModifiedBy>
  <cp:revision>328</cp:revision>
  <dcterms:created xsi:type="dcterms:W3CDTF">2024-04-01T09:57:00Z</dcterms:created>
  <dcterms:modified xsi:type="dcterms:W3CDTF">2025-03-19T07:37:00Z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B25F366BCFF1477C9A459E4405C68425_13</vt:lpwstr>
  </property>
  <property fmtid="{D5CDD505-2E9C-101B-9397-08002B2CF9AE}" pid="3" name="KSOProductBuildVer">
    <vt:lpwstr>1033-12.2.0.20326</vt:lpwstr>
  </property>
</Properties>
</file>